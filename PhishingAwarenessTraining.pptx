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0"/>
            <a:ext cx="9144000" cy="1097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3716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3716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PHISHING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457200" y="9601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 TRAINING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200" y="19659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Recognize. Resist. Report.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200" y="25146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training will help you identify phishing attacks, understand social engineering tactics, and adopt best practices to protect yourself and your organization.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3154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Sharon Ureh Odu  |  ID: CA/DF1/34277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3474720"/>
            <a:ext cx="2606040" cy="438912"/>
          </a:xfrm>
          <a:prstGeom prst="rect">
            <a:avLst/>
          </a:prstGeom>
          <a:solidFill>
            <a:srgbClr val="DBEAFE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57200" y="34747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Types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46120" y="3474720"/>
            <a:ext cx="2606040" cy="438912"/>
          </a:xfrm>
          <a:prstGeom prst="rect">
            <a:avLst/>
          </a:prstGeom>
          <a:solidFill>
            <a:srgbClr val="DBEAFE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246120" y="34747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Red Flags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35040" y="3474720"/>
            <a:ext cx="2606040" cy="438912"/>
          </a:xfrm>
          <a:prstGeom prst="rect">
            <a:avLst/>
          </a:prstGeom>
          <a:solidFill>
            <a:srgbClr val="DBEAFE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035040" y="34747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Websites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4041648"/>
            <a:ext cx="2606040" cy="438912"/>
          </a:xfrm>
          <a:prstGeom prst="rect">
            <a:avLst/>
          </a:prstGeom>
          <a:solidFill>
            <a:srgbClr val="DBEAFE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57200" y="40416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246120" y="4041648"/>
            <a:ext cx="2606040" cy="438912"/>
          </a:xfrm>
          <a:prstGeom prst="rect">
            <a:avLst/>
          </a:prstGeom>
          <a:solidFill>
            <a:srgbClr val="DBEAFE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3246120" y="40416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035040" y="4041648"/>
            <a:ext cx="2606040" cy="438912"/>
          </a:xfrm>
          <a:prstGeom prst="rect">
            <a:avLst/>
          </a:prstGeom>
          <a:solidFill>
            <a:srgbClr val="DBEAFE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035040" y="40416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PHISHING?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91440" cy="10515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78992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a cyberattack where criminals impersonate trusted entities — via email, SMS, or fake websites — to trick victims into revealing passwords, financial information, or installing malware.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265176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0E3F5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331720"/>
            <a:ext cx="2651760" cy="914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146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A56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3.4B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457200" y="349300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every day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2331720"/>
            <a:ext cx="265176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0E3F5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2331720"/>
            <a:ext cx="265176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25146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83%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3291840" y="349300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hit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phishing in 2023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2331720"/>
            <a:ext cx="265176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0E3F5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2331720"/>
            <a:ext cx="2651760" cy="914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25146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$4.9M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6126480" y="349300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 phishing breach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TYPES OF PHISHING ATTACKS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D0E3F5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2743200" cy="7315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20700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20700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Phishing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166420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emails impersonating banks, tech companies, or HR departments. The most common type.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154680" y="1005840"/>
            <a:ext cx="274320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D0E3F5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54680" y="1005840"/>
            <a:ext cx="2743200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272" y="1207008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49040" y="120700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Smishing (SMS)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291840" y="166420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text messages with malicious links. 'Your package is delayed — click here to reschedule.'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035040" y="1005840"/>
            <a:ext cx="274320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D0E3F5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35040" y="1005840"/>
            <a:ext cx="274320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207008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29400" y="120700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Spear Phishing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172200" y="166420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targeted attack using personal details about the victim to appear credible and legitimate.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274320" y="2926080"/>
            <a:ext cx="274320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D0E3F5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274320" y="2926080"/>
            <a:ext cx="27432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3127248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68680" y="312724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Pharming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11480" y="358444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Redirects users to fake websites even when they correctly type the real URL into their browser.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3154680" y="2926080"/>
            <a:ext cx="274320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D0E3F5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154680" y="2926080"/>
            <a:ext cx="2743200" cy="73152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9272" y="3127248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749040" y="312724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Vishing (Voice)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3291840" y="358444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calls from fake 'tech support' or 'IRS agents' using urgency to extract sensitive info.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035040" y="2926080"/>
            <a:ext cx="274320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D0E3F5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035040" y="2926080"/>
            <a:ext cx="274320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9632" y="3127248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629400" y="312724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 Phishing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6172200" y="358444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a legitimate email, swapping real links or attachments for malicious versions.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RECOGNIZING A PHISHING EMAIL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5029200" cy="3886200"/>
          </a:xfrm>
          <a:prstGeom prst="rect">
            <a:avLst/>
          </a:prstGeom>
          <a:solidFill>
            <a:srgbClr val="FFFFFF"/>
          </a:solidFill>
          <a:ln w="19050">
            <a:solidFill>
              <a:srgbClr val="D0E3F5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5029200" cy="457200"/>
          </a:xfrm>
          <a:prstGeom prst="rect">
            <a:avLst/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0584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Inbox — Suspicious Message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98448" y="15087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security@paypa1-support.net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5623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98448" y="18562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URGENT: Your account will be suspended!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20370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98448" y="220370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you@company.com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578608"/>
            <a:ext cx="4937760" cy="27432"/>
          </a:xfrm>
          <a:prstGeom prst="rect">
            <a:avLst/>
          </a:prstGeom>
          <a:solidFill>
            <a:srgbClr val="D0E3F5"/>
          </a:solidFill>
          <a:ln w="12700">
            <a:solidFill>
              <a:srgbClr val="D0E3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670048"/>
            <a:ext cx="466344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Valued Customer,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detected suspicious activity on your account. Click the link below IMMEDIATELY or your account will be permanently suspended within 24 hours.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[Verify Account Now] →  http://paypa1-secure.ru/verify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577840" y="9601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🚩  RED FLAGS SPOTTED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577840" y="1444752"/>
            <a:ext cx="338328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669280" y="148132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80760" y="14813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Misspelled domain: 'paypa1' (number 1, not letter l)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77840" y="2103120"/>
            <a:ext cx="338328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669280" y="213969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80760" y="213969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language designed to trigger panic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577840" y="2761488"/>
            <a:ext cx="338328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69280" y="279806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080760" y="279806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link pointing to a .ru domain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577840" y="3419856"/>
            <a:ext cx="338328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669280" y="345643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080760" y="34564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 — not your actual name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577840" y="4078224"/>
            <a:ext cx="338328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CA8A04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669280" y="41148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080760" y="4114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Unrealistic 24-hour deadline as a pressure tactic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SPOTTING FAKE WEBSITES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COMPARISON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3931920" cy="658368"/>
          </a:xfrm>
          <a:prstGeom prst="rect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371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LEGITIMATE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59105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https://www.paypal.com/signin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325880"/>
            <a:ext cx="3931920" cy="658368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83480" y="1371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FAKE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83480" y="159105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http://paypa1-secure.ru/signin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212848"/>
            <a:ext cx="2011680" cy="2633472"/>
          </a:xfrm>
          <a:prstGeom prst="rect">
            <a:avLst/>
          </a:prstGeom>
          <a:solidFill>
            <a:srgbClr val="FFFFFF"/>
          </a:solidFill>
          <a:ln w="19050">
            <a:solidFill>
              <a:srgbClr val="D0E3F5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212848"/>
            <a:ext cx="2011680" cy="7315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" y="2377440"/>
            <a:ext cx="457200" cy="4572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57200" y="29260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&amp; Padlock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3364992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for https:// — but note that phishing sites can also have HTTPS. It's necessary but not sufficient.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514600" y="2212848"/>
            <a:ext cx="2011680" cy="2633472"/>
          </a:xfrm>
          <a:prstGeom prst="rect">
            <a:avLst/>
          </a:prstGeom>
          <a:solidFill>
            <a:srgbClr val="FFFFFF"/>
          </a:solidFill>
          <a:ln w="19050">
            <a:solidFill>
              <a:srgbClr val="D0E3F5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514600" y="2212848"/>
            <a:ext cx="2011680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552" y="2377440"/>
            <a:ext cx="457200" cy="4572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606040" y="29260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Spelling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2606040" y="3364992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carefully: paypa1.com, g00gle.com, arnazon.com are fake. One changed character is all it takes.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4663440" y="2212848"/>
            <a:ext cx="2011680" cy="2633472"/>
          </a:xfrm>
          <a:prstGeom prst="rect">
            <a:avLst/>
          </a:prstGeom>
          <a:solidFill>
            <a:srgbClr val="FFFFFF"/>
          </a:solidFill>
          <a:ln w="19050">
            <a:solidFill>
              <a:srgbClr val="D0E3F5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663440" y="2212848"/>
            <a:ext cx="20116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392" y="2377440"/>
            <a:ext cx="457200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754880" y="29260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Design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4754880" y="3364992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grammar, blurry logos, broken layouts, and mismatched fonts are signs you're on a fake site.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6812280" y="2212848"/>
            <a:ext cx="2011680" cy="2633472"/>
          </a:xfrm>
          <a:prstGeom prst="rect">
            <a:avLst/>
          </a:prstGeom>
          <a:solidFill>
            <a:srgbClr val="FFFFFF"/>
          </a:solidFill>
          <a:ln w="19050">
            <a:solidFill>
              <a:srgbClr val="D0E3F5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812280" y="2212848"/>
            <a:ext cx="201168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1232" y="2377440"/>
            <a:ext cx="457200" cy="4572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903720" y="29260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Pop-up Pressure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6903720" y="3364992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sites use alarming pop-ups demanding urgent action. Real companies don't behave this way.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SOCIAL ENGINEERING TACTICS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65760" y="93268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exploit human psychology — not just technology: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4206240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D0E3F5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71600"/>
            <a:ext cx="91440" cy="11155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46304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 URGENCY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179222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account will be locked in 1 hour!"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206654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Panic overrides rational thinking. Act before you think — that's their goal.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206240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D0E3F5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371600"/>
            <a:ext cx="91440" cy="111556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0328" y="146304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👑  AUTHORITY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10328" y="179222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is the CEO — wire $50,000 immediately."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0328" y="206654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obey authority figures. Impersonating bosses or officials exploits trust.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587752"/>
            <a:ext cx="4206240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D0E3F5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587752"/>
            <a:ext cx="91440" cy="11155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679192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🎁  GREED/REWARD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" y="300837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"You've won an iPhone 15! Click to claim."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" y="3282696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Attractive offers cause victims to overlook obvious warning signs.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09160" y="2587752"/>
            <a:ext cx="4206240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D0E3F5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2587752"/>
            <a:ext cx="91440" cy="111556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0328" y="2679192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😨  FEAR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10328" y="300837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"IRS: You owe back taxes. Pay now to avoid arrest."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10328" y="3282696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Threatening consequences forces hasty decisions without proper verification.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3803904"/>
            <a:ext cx="4206240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D0E3F5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803904"/>
            <a:ext cx="91440" cy="11155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3895344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🤝  FAMILIARITY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5488" y="422452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"Hi, this is John from IT — I need your password."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5488" y="449884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names or company info makes a fraudulent request feel legitimate.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0" y="3803904"/>
            <a:ext cx="4206240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D0E3F5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3803904"/>
            <a:ext cx="91440" cy="1115568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0328" y="3895344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8A0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🔁  RECIPROCITY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910328" y="422452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fixed your account — now just verify your details."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10328" y="449884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feel obligated to give back when they've received something first.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REAL-WORLD PHISHING INCIDENTS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D0E3F5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1097280" cy="1234440"/>
          </a:xfrm>
          <a:prstGeom prst="rect">
            <a:avLst/>
          </a:prstGeom>
          <a:solidFill>
            <a:srgbClr val="1A56DB">
              <a:alpha val="12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960120"/>
            <a:ext cx="73152" cy="12344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3327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56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74320" y="15544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Twitter Hack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508760" y="105156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Attackers phone-spear-phished Twitter employees to obtain VPN credentials.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508760" y="1399032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High-profile accounts (Obama, Musk, Gates) hijacked for a Bitcoin scam. $120,000 stolen.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08760" y="173736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Insider access via social engineering can compromise even the most secure platforms.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331720"/>
            <a:ext cx="859536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D0E3F5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331720"/>
            <a:ext cx="1097280" cy="1234440"/>
          </a:xfrm>
          <a:prstGeom prst="rect">
            <a:avLst/>
          </a:prstGeom>
          <a:solidFill>
            <a:srgbClr val="EA580C">
              <a:alpha val="12000"/>
            </a:srgbClr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331720"/>
            <a:ext cx="73152" cy="12344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40487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2016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74320" y="29260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DNC Email Hack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508760" y="242316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A spear-phishing email disguised as a Google security alert tricked a campaign official.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08760" y="2770632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30,000+ emails stolen. Massive political fallout and significant privacy breach.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508760" y="310896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Even security-aware professionals can fall for convincing, well-crafted spear-phishing.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703320"/>
            <a:ext cx="859536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D0E3F5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703320"/>
            <a:ext cx="1097280" cy="1234440"/>
          </a:xfrm>
          <a:prstGeom prst="rect">
            <a:avLst/>
          </a:prstGeom>
          <a:solidFill>
            <a:srgbClr val="DC2626">
              <a:alpha val="12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703320"/>
            <a:ext cx="73152" cy="1234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77647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2022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274320" y="42976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Uber Breach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508760" y="379476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An 18-year-old used MFA fatigue combined with WhatsApp impersonation to gain admin access.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508760" y="4142232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Full system access including sensitive security tools and internal employee records.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508760" y="448056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MFA alone is not enough — social engineering can be used to bypass multi-factor authentication.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BEST PRACTICES TO STAY SAFE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4389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8755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 DO THIS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463040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3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508760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3232" y="150876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sender's full email address carefully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029968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3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2075688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3232" y="207568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links before clicking to preview the URL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596896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3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642616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3232" y="264261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Multi-Factor Authentication (MFA) everywhere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163824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3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3209544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3232" y="320954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suspicious emails to your IT/security team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730752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3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776472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3232" y="377647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password manager to avoid reusing passwords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297680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3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4343400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13232" y="434340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software, browser, and antivirus fully updated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960120"/>
            <a:ext cx="4114800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98755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❌  DON'T DO THIS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754880" y="1463040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3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1508760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93792" y="150876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links in unexpected or unsolicited emails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2029968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3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2075688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193792" y="207568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attachments from unknown or suspicious senders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2596896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3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28032" y="2642616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193792" y="264261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passwords over phone, email, or chat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0" y="3163824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3F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28032" y="3209544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193792" y="320954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browser security warnings about a website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54880" y="3730752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3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28032" y="3776472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193792" y="377647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same password across multiple accounts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754880" y="4297680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3F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28032" y="4343400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193792" y="434340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on urgent requests without independently verifying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73152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🧠  QUIZ TIME — TEST YOUR KNOWLEDGE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1938528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8595360" cy="7315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789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You receive an email from 'support@arnazon-help.com' saying your order was cancelled. What's the first thing you should do?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673352"/>
            <a:ext cx="4114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3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099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Click the link to check your order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673352"/>
            <a:ext cx="4114800" cy="347472"/>
          </a:xfrm>
          <a:prstGeom prst="rect">
            <a:avLst/>
          </a:prstGeom>
          <a:solidFill>
            <a:srgbClr val="F0FFF4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7099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Carefully examine the sender's email address  ✅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2084832"/>
            <a:ext cx="4114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3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1214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Reply asking for more information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09160" y="2084832"/>
            <a:ext cx="4114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3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21214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Forward it to your friends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999232"/>
            <a:ext cx="8595360" cy="187452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99232"/>
            <a:ext cx="8595360" cy="7315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A website shows a padlock icon 🔒 and HTTPS. Does this mean it's definitely safe to use?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" y="3621024"/>
            <a:ext cx="4114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3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657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Yes — HTTPS means it's 100% secure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09160" y="3621024"/>
            <a:ext cx="4114800" cy="347472"/>
          </a:xfrm>
          <a:prstGeom prst="rect">
            <a:avLst/>
          </a:prstGeom>
          <a:solidFill>
            <a:srgbClr val="F0FFF4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657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No — phishing sites can also have HTTPS  ✅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11480" y="4032504"/>
            <a:ext cx="4114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3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069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Only if the padlock icon is green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4032504"/>
            <a:ext cx="4114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3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4069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Yes, always trust the padlock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IF YOU SUSPECT A PHISHING ATTACK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194560" y="2148840"/>
            <a:ext cx="320040" cy="45720"/>
          </a:xfrm>
          <a:prstGeom prst="rect">
            <a:avLst/>
          </a:prstGeom>
          <a:solidFill>
            <a:srgbClr val="D0E3F5"/>
          </a:solidFill>
          <a:ln w="12700">
            <a:solidFill>
              <a:srgbClr val="D0E3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1920240" cy="3794760"/>
          </a:xfrm>
          <a:prstGeom prst="rect">
            <a:avLst/>
          </a:prstGeom>
          <a:solidFill>
            <a:srgbClr val="FFFFFF"/>
          </a:solidFill>
          <a:ln w="19050">
            <a:solidFill>
              <a:srgbClr val="D0E3F5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192024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133856"/>
            <a:ext cx="685800" cy="6858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13385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" y="1920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STOP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84048" y="2487168"/>
            <a:ext cx="171907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click links, download attachments, or reply. Close any suspicious pages immediately.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3400" y="2148840"/>
            <a:ext cx="320040" cy="45720"/>
          </a:xfrm>
          <a:prstGeom prst="rect">
            <a:avLst/>
          </a:prstGeom>
          <a:solidFill>
            <a:srgbClr val="D0E3F5"/>
          </a:solidFill>
          <a:ln w="12700">
            <a:solidFill>
              <a:srgbClr val="D0E3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23160" y="960120"/>
            <a:ext cx="1920240" cy="3794760"/>
          </a:xfrm>
          <a:prstGeom prst="rect">
            <a:avLst/>
          </a:prstGeom>
          <a:solidFill>
            <a:srgbClr val="FFFFFF"/>
          </a:solidFill>
          <a:ln w="19050">
            <a:solidFill>
              <a:srgbClr val="D0E3F5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23160" y="960120"/>
            <a:ext cx="1920240" cy="914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44952" y="1133856"/>
            <a:ext cx="685800" cy="68580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44952" y="113385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514600" y="1920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VERIFY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532888" y="2487168"/>
            <a:ext cx="171907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the sender directly using a trusted number — not the one provided in the email.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92240" y="2148840"/>
            <a:ext cx="320040" cy="45720"/>
          </a:xfrm>
          <a:prstGeom prst="rect">
            <a:avLst/>
          </a:prstGeom>
          <a:solidFill>
            <a:srgbClr val="D0E3F5"/>
          </a:solidFill>
          <a:ln w="12700">
            <a:solidFill>
              <a:srgbClr val="D0E3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960120"/>
            <a:ext cx="1920240" cy="3794760"/>
          </a:xfrm>
          <a:prstGeom prst="rect">
            <a:avLst/>
          </a:prstGeom>
          <a:solidFill>
            <a:srgbClr val="FFFFFF"/>
          </a:solidFill>
          <a:ln w="19050">
            <a:solidFill>
              <a:srgbClr val="D0E3F5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960120"/>
            <a:ext cx="1920240" cy="914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93792" y="1133856"/>
            <a:ext cx="685800" cy="68580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93792" y="113385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663440" y="1920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56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REPORT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681728" y="2487168"/>
            <a:ext cx="171907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the email to your IT/security team or use your email client's 'Report Phishing' option.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20840" y="960120"/>
            <a:ext cx="1920240" cy="3794760"/>
          </a:xfrm>
          <a:prstGeom prst="rect">
            <a:avLst/>
          </a:prstGeom>
          <a:solidFill>
            <a:srgbClr val="FFFFFF"/>
          </a:solidFill>
          <a:ln w="19050">
            <a:solidFill>
              <a:srgbClr val="D0E3F5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720840" y="960120"/>
            <a:ext cx="1920240" cy="91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42632" y="1133856"/>
            <a:ext cx="685800" cy="6858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42632" y="113385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812280" y="1920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SECURE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830568" y="2487168"/>
            <a:ext cx="171907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clicked a link or entered credentials, change your password immediately and enable MFA.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4828032"/>
            <a:ext cx="8595360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It's always okay to report something that turns out not to be phishing. It's NOT okay to ignore something that is.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920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920240"/>
            <a:ext cx="9144000" cy="91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201168"/>
            <a:ext cx="1508760" cy="1508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56032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9601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Recognize. Resist. Report.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2121408"/>
            <a:ext cx="8321040" cy="502920"/>
          </a:xfrm>
          <a:prstGeom prst="rect">
            <a:avLst/>
          </a:prstGeom>
          <a:solidFill>
            <a:srgbClr val="EBF2FA"/>
          </a:solidFill>
          <a:ln w="12700">
            <a:solidFill>
              <a:srgbClr val="D0E3F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2121408"/>
            <a:ext cx="73152" cy="5029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214884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43000" y="214884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targets PEOPLE, not just systems. Your awareness is the most effective line of defense.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2697480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3F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2697480"/>
            <a:ext cx="73152" cy="5029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2724912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43000" y="2724912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inspect email addresses, URLs, and urgent requests before taking any action.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3273552"/>
            <a:ext cx="8321040" cy="502920"/>
          </a:xfrm>
          <a:prstGeom prst="rect">
            <a:avLst/>
          </a:prstGeom>
          <a:solidFill>
            <a:srgbClr val="EBF2FA"/>
          </a:solidFill>
          <a:ln w="12700">
            <a:solidFill>
              <a:srgbClr val="D0E3F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3273552"/>
            <a:ext cx="73152" cy="5029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" y="330098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143000" y="3300984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MFA on all accounts and use a password manager for strong, unique passwords.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3849624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3F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7200" y="3849624"/>
            <a:ext cx="73152" cy="5029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" y="387705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143000" y="3877056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doubt, report it — your security team would rather check 100 false alarms than miss a real attack.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57200" y="4425696"/>
            <a:ext cx="8321040" cy="502920"/>
          </a:xfrm>
          <a:prstGeom prst="rect">
            <a:avLst/>
          </a:prstGeom>
          <a:solidFill>
            <a:srgbClr val="EBF2FA"/>
          </a:solidFill>
          <a:ln w="12700">
            <a:solidFill>
              <a:srgbClr val="D0E3F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57200" y="4425696"/>
            <a:ext cx="73152" cy="5029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94360" y="445312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143000" y="4453128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before you click. Attackers rely on rushed, emotional reactions. Slowing down is your superpower.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Stay Vigilant. Stay Safe.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</dc:title>
  <dc:subject>PptxGenJS Presentation</dc:subject>
  <dc:creator>PptxGenJS</dc:creator>
  <cp:lastModifiedBy>PptxGenJS</cp:lastModifiedBy>
  <cp:revision>1</cp:revision>
  <dcterms:created xsi:type="dcterms:W3CDTF">2026-03-11T19:02:51Z</dcterms:created>
  <dcterms:modified xsi:type="dcterms:W3CDTF">2026-03-11T19:02:51Z</dcterms:modified>
</cp:coreProperties>
</file>